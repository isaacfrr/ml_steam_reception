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Presentación del proyecto de ML: predecir si un juego de Steam será bien recibido antes de lanzarlo.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 problema de negocio: anticipar la acogida usando solo las palancas que el estudio controla antes del lanzamiento.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122.611 juegos, 39 columnas. Encontré un bug de cabecera que desalineaba las columnas; lo reparo en la carga.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Defino el target: ≥50 reseñas para fiabilidad, y ≥70% positivas = bien recibido. Sale 75/25, por eso uso ROC-AUC y F1.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Punto clave y defendible: el target sale de las reseñas, así que excluyo toda variable derivada de ellas. Sin esto el modelo sería una trampa.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 EDA confirma señal: pago mejor que F2P, y diferencias claras por género.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Split estratificado, imputación, log1p+escalado y One-Hot. Todo en un Pipeline para no filtrar información en la CV.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Comparo 4 modelos por CV. El Dummy marca el suelo en 0.50 y gana HistGradientBoosting con 0.76.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 test: ROC-AUC 0.776 y F1 0.869. El test se reserva hasta el final.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Uso importancia por permutación porque el boosting no expone coeficientes. Pesan playtime, precio, idiomas, F2P y género.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 corte en 0.5 es una convención. Subiendo el umbral gano precisión a costa de recall: el negocio elige el punto de operación.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Cierre: funciona sin fuga, con limitaciones claras y próximos pasos concretos.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Cierre y enlace al repositorio.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82880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¿Gustará este juego?</a:t>
            </a:r>
            <a:endParaRPr lang="en-US" sz="5000" dirty="0"/>
          </a:p>
        </p:txBody>
      </p:sp>
      <p:sp>
        <p:nvSpPr>
          <p:cNvPr id="3" name="Text 1"/>
          <p:cNvSpPr/>
          <p:nvPr/>
        </p:nvSpPr>
        <p:spPr>
          <a:xfrm>
            <a:off x="822960" y="278892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Predicción de la recepción de videojuegos en Steam con Machine Learning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822960" y="3794760"/>
            <a:ext cx="128016" cy="128016"/>
          </a:xfrm>
          <a:prstGeom prst="ellipse">
            <a:avLst/>
          </a:prstGeom>
          <a:solidFill>
            <a:srgbClr val="66C0F4"/>
          </a:solidFill>
          <a:ln/>
        </p:spPr>
      </p:sp>
      <p:sp>
        <p:nvSpPr>
          <p:cNvPr id="5" name="Text 3"/>
          <p:cNvSpPr/>
          <p:nvPr/>
        </p:nvSpPr>
        <p:spPr>
          <a:xfrm>
            <a:off x="1097280" y="3657600"/>
            <a:ext cx="9601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Isaac Frías  ·  Project Break II — The Bridge, Data Science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822960" y="502920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6C0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122.611 juegos analizados  ·  clasificación binaria  ·  ROC-AUC 0.776 en test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66C0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PROBLEMA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Lanzar un juego es una apuesta cara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737360"/>
            <a:ext cx="64922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3D4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estudio invierte años y millones antes de saber si el público lo aceptará.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3D4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reseñas de Steam son el termómetro de esa acogida… pero llegan tarde.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3D4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Pregunta: ¿podemos anticiparla con lo que sí se decide antes del lanzamiento?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7406640" y="1691640"/>
            <a:ext cx="4206240" cy="3017520"/>
          </a:xfrm>
          <a:prstGeom prst="roundRect">
            <a:avLst>
              <a:gd name="adj" fmla="val 3030"/>
            </a:avLst>
          </a:prstGeom>
          <a:solidFill>
            <a:srgbClr val="F4F7FC"/>
          </a:solidFill>
          <a:ln w="12700">
            <a:solidFill>
              <a:srgbClr val="E2E9F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680960" y="18745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Decisiones que sí controla el estudio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7680960" y="2331720"/>
            <a:ext cx="365760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3D4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Precio y modelo (F2P / pago)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3D4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Género y categorías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3D4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Plataformas soportadas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3D4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Idiomas y localización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48640" y="4206240"/>
            <a:ext cx="6492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Objetivo: estimar la probabilidad de buena acogida para ajustar esas palancas antes de lanzar.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66C0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DATOS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Steam Games Dataset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691640"/>
            <a:ext cx="2743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122.611</a:t>
            </a:r>
            <a:endParaRPr lang="en-US" sz="4600" dirty="0"/>
          </a:p>
        </p:txBody>
      </p:sp>
      <p:sp>
        <p:nvSpPr>
          <p:cNvPr id="5" name="Text 3"/>
          <p:cNvSpPr/>
          <p:nvPr/>
        </p:nvSpPr>
        <p:spPr>
          <a:xfrm>
            <a:off x="548640" y="246888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A86A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juegos en el catálogo bruto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3931920" y="1691640"/>
            <a:ext cx="2743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39</a:t>
            </a:r>
            <a:endParaRPr lang="en-US" sz="4600" dirty="0"/>
          </a:p>
        </p:txBody>
      </p:sp>
      <p:sp>
        <p:nvSpPr>
          <p:cNvPr id="7" name="Text 5"/>
          <p:cNvSpPr/>
          <p:nvPr/>
        </p:nvSpPr>
        <p:spPr>
          <a:xfrm>
            <a:off x="3931920" y="246888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A86A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columnas por juego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7315200" y="1691640"/>
            <a:ext cx="2743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66C0F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30.620</a:t>
            </a:r>
            <a:endParaRPr lang="en-US" sz="4600" dirty="0"/>
          </a:p>
        </p:txBody>
      </p:sp>
      <p:sp>
        <p:nvSpPr>
          <p:cNvPr id="9" name="Text 7"/>
          <p:cNvSpPr/>
          <p:nvPr/>
        </p:nvSpPr>
        <p:spPr>
          <a:xfrm>
            <a:off x="7315200" y="246888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A86A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juegos usables para modelar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48640" y="3291840"/>
            <a:ext cx="11064240" cy="1554480"/>
          </a:xfrm>
          <a:prstGeom prst="roundRect">
            <a:avLst>
              <a:gd name="adj" fmla="val 5882"/>
            </a:avLst>
          </a:prstGeom>
          <a:solidFill>
            <a:srgbClr val="F4F7FC"/>
          </a:solidFill>
          <a:ln w="12700">
            <a:solidFill>
              <a:srgbClr val="E2E9F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68680" y="347472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2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bug real del dataset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868680" y="3840480"/>
            <a:ext cx="10424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D4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cabecera del CSV junta 'Discount' y 'DLC count' en un solo nombre, lo que desplaza todas las columnas siguientes. Lo detecté comparando datos con la web de Steam y lo reparo al cargar, forzando los nombres correctos en data_loader.py.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548640" y="51206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A86A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FronkonGames — Steam Web API + SteamSpy (licencia MIT)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66C0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TARGET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Construyendo la variable objetivo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691640"/>
            <a:ext cx="5852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D4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dataset no trae una columna «bien recibido». La defino yo: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2240280"/>
            <a:ext cx="384048" cy="38404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22402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97280" y="2240280"/>
            <a:ext cx="5303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D4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Solo juegos con ≥ 50 reseñas — con 3 reseñas el porcentaje no significa nada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3017520"/>
            <a:ext cx="384048" cy="38404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9" name="Text 7"/>
          <p:cNvSpPr/>
          <p:nvPr/>
        </p:nvSpPr>
        <p:spPr>
          <a:xfrm>
            <a:off x="548640" y="30175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1097280" y="3017520"/>
            <a:ext cx="5303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D4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recepcion_positiva = 1 si ≥ 70 % de reseñas positivas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548640" y="3794760"/>
            <a:ext cx="384048" cy="38404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2" name="Text 10"/>
          <p:cNvSpPr/>
          <p:nvPr/>
        </p:nvSpPr>
        <p:spPr>
          <a:xfrm>
            <a:off x="548640" y="37947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097280" y="3794760"/>
            <a:ext cx="5303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D4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Resultado: 30.620 juegos, clases desbalanceadas 75 / 25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548640" y="4617720"/>
            <a:ext cx="5852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Por eso la métrica es ROC-AUC y F1, nunca accuracy: prediciendo siempre «positiva» acertaría un 75 % sin aprender nada.</a:t>
            </a:r>
            <a:endParaRPr lang="en-US" sz="1300" dirty="0"/>
          </a:p>
        </p:txBody>
      </p:sp>
      <p:pic>
        <p:nvPicPr>
          <p:cNvPr id="15" name="Image 0" descr="/sessions/wizardly-intelligent-einstein/mnt/GitHub/ML_steam_reception/src/img/01_target_balance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675120" y="1783080"/>
            <a:ext cx="5029200" cy="329184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8580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66C0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DECISIÓN MÁS IMPORTANTE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1005840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Evitar la fuga de información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640080" y="1874520"/>
            <a:ext cx="54864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target se calcula con las reseñas. Si dejo entrar variables derivadas de esas mismas reseñas, el modelo «hace trampa»: acierta casi todo y no sirve para nada en el mundo real.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3383280"/>
            <a:ext cx="5486400" cy="2377440"/>
          </a:xfrm>
          <a:prstGeom prst="roundRect">
            <a:avLst>
              <a:gd name="adj" fmla="val 3846"/>
            </a:avLst>
          </a:prstGeom>
          <a:solidFill>
            <a:srgbClr val="2A356F"/>
          </a:solidFill>
          <a:ln/>
        </p:spPr>
      </p:sp>
      <p:sp>
        <p:nvSpPr>
          <p:cNvPr id="6" name="Text 4"/>
          <p:cNvSpPr/>
          <p:nvPr/>
        </p:nvSpPr>
        <p:spPr>
          <a:xfrm>
            <a:off x="914400" y="356616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6C0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Excluidas del modelo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914400" y="3977640"/>
            <a:ext cx="49377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Positive · Negative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total_reviews · pct_positivas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 score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Recommendations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583680" y="1874520"/>
            <a:ext cx="4937760" cy="3886200"/>
          </a:xfrm>
          <a:prstGeom prst="roundRect">
            <a:avLst>
              <a:gd name="adj" fmla="val 2353"/>
            </a:avLst>
          </a:prstGeom>
          <a:solidFill>
            <a:srgbClr val="2A356F"/>
          </a:solidFill>
          <a:ln/>
        </p:spPr>
      </p:sp>
      <p:sp>
        <p:nvSpPr>
          <p:cNvPr id="9" name="Text 7"/>
          <p:cNvSpPr/>
          <p:nvPr/>
        </p:nvSpPr>
        <p:spPr>
          <a:xfrm>
            <a:off x="6858000" y="2103120"/>
            <a:ext cx="4389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6C0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que sí usa el modelo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6858000" y="2514600"/>
            <a:ext cx="438912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Precio y es_f2p</a:t>
            </a:r>
            <a:endParaRPr lang="en-US" sz="14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Género principal y nº de géneros</a:t>
            </a:r>
            <a:endParaRPr lang="en-US" sz="14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Nº de idiomas y categorías</a:t>
            </a:r>
            <a:endParaRPr lang="en-US" sz="14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Plataformas (Win/Mac/Linux)</a:t>
            </a:r>
            <a:endParaRPr lang="en-US" sz="14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Logros, DLCs, edad mínima</a:t>
            </a:r>
            <a:endParaRPr lang="en-US" sz="14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Tiempo de juego medio, Peak CCU</a:t>
            </a:r>
            <a:endParaRPr lang="en-US" sz="14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Antigüedad del lanzamiento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66C0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EDA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Qué dicen los datos</a:t>
            </a:r>
            <a:endParaRPr lang="en-US" sz="3400" dirty="0"/>
          </a:p>
        </p:txBody>
      </p:sp>
      <p:pic>
        <p:nvPicPr>
          <p:cNvPr id="4" name="Image 0" descr="/sessions/wizardly-intelligent-einstein/mnt/GitHub/ML_steam_reception/src/img/02_f2p_vs_target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1645920"/>
            <a:ext cx="5120640" cy="3200400"/>
          </a:xfrm>
          <a:prstGeom prst="rect">
            <a:avLst/>
          </a:prstGeom>
        </p:spPr>
      </p:pic>
      <p:pic>
        <p:nvPicPr>
          <p:cNvPr id="5" name="Image 1" descr="/sessions/wizardly-intelligent-einstein/mnt/GitHub/ML_steam_reception/src/img/03_genero_vs_target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035040" y="1645920"/>
            <a:ext cx="5577840" cy="3200400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548640" y="502920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juegos de pago se reciben mejor que los F2P (76 % vs 69 %) y el género separa con claridad: Adventure ~81 %, Action ~73 %. Hay señal real que el modelo puede aprovechar.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66C0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PREPROCESADO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 datos crudos a matriz de entrenamiento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384048" cy="38404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1737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143000" y="1719072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Split estratificado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143000" y="2029968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D4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80/20 manteniendo la proporción 75/25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48640" y="2697480"/>
            <a:ext cx="384048" cy="38404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9" name="Text 7"/>
          <p:cNvSpPr/>
          <p:nvPr/>
        </p:nvSpPr>
        <p:spPr>
          <a:xfrm>
            <a:off x="548640" y="2697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1143000" y="2679192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Imputación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143000" y="2990088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D4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mediana en numéricas, constante en categóricas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48640" y="3657600"/>
            <a:ext cx="384048" cy="38404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3" name="Text 11"/>
          <p:cNvSpPr/>
          <p:nvPr/>
        </p:nvSpPr>
        <p:spPr>
          <a:xfrm>
            <a:off x="548640" y="36576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1143000" y="3639312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log1p + escalado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1143000" y="3950208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D4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precio, playtime y Peak CCU tienen colas largas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548640" y="4617720"/>
            <a:ext cx="384048" cy="38404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7" name="Text 15"/>
          <p:cNvSpPr/>
          <p:nvPr/>
        </p:nvSpPr>
        <p:spPr>
          <a:xfrm>
            <a:off x="548640" y="46177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143000" y="4599432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One-Hot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1143000" y="4910328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D4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género principal, agrupando categorías raras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6949440" y="1737360"/>
            <a:ext cx="4663440" cy="3017520"/>
          </a:xfrm>
          <a:prstGeom prst="roundRect">
            <a:avLst>
              <a:gd name="adj" fmla="val 3030"/>
            </a:avLst>
          </a:prstGeom>
          <a:solidFill>
            <a:srgbClr val="F4F7FC"/>
          </a:solidFill>
          <a:ln w="12700">
            <a:solidFill>
              <a:srgbClr val="E2E9F5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223760" y="2057400"/>
            <a:ext cx="4114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66C0F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18 → 33</a:t>
            </a:r>
            <a:endParaRPr lang="en-US" sz="4400" dirty="0"/>
          </a:p>
        </p:txBody>
      </p:sp>
      <p:sp>
        <p:nvSpPr>
          <p:cNvPr id="22" name="Text 20"/>
          <p:cNvSpPr/>
          <p:nvPr/>
        </p:nvSpPr>
        <p:spPr>
          <a:xfrm>
            <a:off x="7223760" y="2880360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7A86A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features tras el encoding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7223760" y="3383280"/>
            <a:ext cx="4114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3D4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Todo dentro de un Pipeline de scikit-learn: el preprocesado se reajusta en cada fold, así que no se filtra información del test durante la validación.</a:t>
            </a:r>
            <a:endParaRPr lang="en-US" sz="12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66C0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MODELADO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Comparativa de modelos</a:t>
            </a:r>
            <a:endParaRPr lang="en-US" sz="3400" dirty="0"/>
          </a:p>
        </p:txBody>
      </p:sp>
      <p:pic>
        <p:nvPicPr>
          <p:cNvPr id="4" name="Image 0" descr="/sessions/wizardly-intelligent-einstein/mnt/GitHub/ML_steam_reception/src/img/06_comparativa_modelo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1645920"/>
            <a:ext cx="6583680" cy="356616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7498080" y="1737360"/>
            <a:ext cx="4114800" cy="3291840"/>
          </a:xfrm>
          <a:prstGeom prst="roundRect">
            <a:avLst>
              <a:gd name="adj" fmla="val 2778"/>
            </a:avLst>
          </a:prstGeom>
          <a:solidFill>
            <a:srgbClr val="F4F7FC"/>
          </a:solidFill>
          <a:ln w="12700">
            <a:solidFill>
              <a:srgbClr val="E2E9F5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7772400" y="196596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Validación cruzada 5-fold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7772400" y="2377440"/>
            <a:ext cx="35661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3D4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Dummy (baseline) — 0.50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3D4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Regresión Logística — 0.70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3D4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Random Forest — 0.75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3D4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HistGradientBoosting — 0.76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7772400" y="4114800"/>
            <a:ext cx="3566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baseline marca el suelo (0.50). Todo modelo real lo bate; gana el boosting.</a:t>
            </a:r>
            <a:endParaRPr lang="en-US" sz="12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66C0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RESULTADOS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Evaluación final sobre datos no vistos</a:t>
            </a:r>
            <a:endParaRPr lang="en-US" sz="3400" dirty="0"/>
          </a:p>
        </p:txBody>
      </p:sp>
      <p:pic>
        <p:nvPicPr>
          <p:cNvPr id="4" name="Image 0" descr="/sessions/wizardly-intelligent-einstein/mnt/GitHub/ML_steam_reception/src/img/07_evaluacion_test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1600200"/>
            <a:ext cx="7315200" cy="329184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229600" y="1737360"/>
            <a:ext cx="2743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66C0F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0.776</a:t>
            </a:r>
            <a:endParaRPr lang="en-US" sz="4600" dirty="0"/>
          </a:p>
        </p:txBody>
      </p:sp>
      <p:sp>
        <p:nvSpPr>
          <p:cNvPr id="6" name="Text 3"/>
          <p:cNvSpPr/>
          <p:nvPr/>
        </p:nvSpPr>
        <p:spPr>
          <a:xfrm>
            <a:off x="8229600" y="251460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A86A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ROC-AUC en test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8229600" y="3017520"/>
            <a:ext cx="2743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2E7D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0.869</a:t>
            </a:r>
            <a:endParaRPr lang="en-US" sz="4600" dirty="0"/>
          </a:p>
        </p:txBody>
      </p:sp>
      <p:sp>
        <p:nvSpPr>
          <p:cNvPr id="8" name="Text 5"/>
          <p:cNvSpPr/>
          <p:nvPr/>
        </p:nvSpPr>
        <p:spPr>
          <a:xfrm>
            <a:off x="8229600" y="379476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A86A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F1 en test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8229600" y="4206240"/>
            <a:ext cx="3383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D4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Optimizado con GridSearchCV (learning_rate 0.1, max_iter 300) sobre la misma CV estratificada.</a:t>
            </a: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548640" y="502920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test no se toca hasta este punto: es la única medida honesta de cómo generaliza el modelo.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66C0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INTERPRETACIÓN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Qué mueve la predicción</a:t>
            </a:r>
            <a:endParaRPr lang="en-US" sz="3400" dirty="0"/>
          </a:p>
        </p:txBody>
      </p:sp>
      <p:pic>
        <p:nvPicPr>
          <p:cNvPr id="4" name="Image 0" descr="/sessions/wizardly-intelligent-einstein/mnt/GitHub/ML_steam_reception/src/img/08_importancia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1645920"/>
            <a:ext cx="6035040" cy="356616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949440" y="1783080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Importancia por permutación</a:t>
            </a:r>
            <a:endParaRPr lang="en-US" sz="1600" dirty="0"/>
          </a:p>
        </p:txBody>
      </p:sp>
      <p:sp>
        <p:nvSpPr>
          <p:cNvPr id="6" name="Text 3"/>
          <p:cNvSpPr/>
          <p:nvPr/>
        </p:nvSpPr>
        <p:spPr>
          <a:xfrm>
            <a:off x="6949440" y="2194560"/>
            <a:ext cx="46634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3D4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Mide cuánto empeora el ROC-AUC al barajar cada variable. Es agnóstica al modelo, así que funciona con boosting, y se lee sobre las variables originales.</a:t>
            </a:r>
            <a:endParaRPr lang="en-US" sz="1350" dirty="0"/>
          </a:p>
        </p:txBody>
      </p:sp>
      <p:sp>
        <p:nvSpPr>
          <p:cNvPr id="7" name="Text 4"/>
          <p:cNvSpPr/>
          <p:nvPr/>
        </p:nvSpPr>
        <p:spPr>
          <a:xfrm>
            <a:off x="6949440" y="3474720"/>
            <a:ext cx="46634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rgbClr val="3D4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Tiempo de juego medio</a:t>
            </a:r>
            <a:endParaRPr lang="en-US" sz="14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rgbClr val="3D4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Precio</a:t>
            </a:r>
            <a:endParaRPr lang="en-US" sz="14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rgbClr val="3D4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Número de idiomas</a:t>
            </a:r>
            <a:endParaRPr lang="en-US" sz="14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rgbClr val="3D4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Modelo de negocio (F2P)</a:t>
            </a:r>
            <a:endParaRPr lang="en-US" sz="14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rgbClr val="3D4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Género principal</a:t>
            </a:r>
            <a:endParaRPr lang="en-US" sz="14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66C0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NEGOCIO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 modelo no decide: cuantifica el intercambio</a:t>
            </a:r>
            <a:endParaRPr lang="en-US" sz="3400" dirty="0"/>
          </a:p>
        </p:txBody>
      </p:sp>
      <p:pic>
        <p:nvPicPr>
          <p:cNvPr id="4" name="Image 0" descr="/sessions/wizardly-intelligent-einstein/mnt/GitHub/ML_steam_reception/src/img/09_umbral_negocio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1645920"/>
            <a:ext cx="6400800" cy="338328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223760" y="1737360"/>
            <a:ext cx="4389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3D4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modelo devuelve una probabilidad. Dónde cortar lo decide el negocio, según qué error duele más:</a:t>
            </a:r>
            <a:endParaRPr lang="en-US" sz="1350" dirty="0"/>
          </a:p>
        </p:txBody>
      </p:sp>
      <p:sp>
        <p:nvSpPr>
          <p:cNvPr id="6" name="Shape 3"/>
          <p:cNvSpPr/>
          <p:nvPr/>
        </p:nvSpPr>
        <p:spPr>
          <a:xfrm>
            <a:off x="7223760" y="2651760"/>
            <a:ext cx="4389120" cy="1051560"/>
          </a:xfrm>
          <a:prstGeom prst="roundRect">
            <a:avLst>
              <a:gd name="adj" fmla="val 8696"/>
            </a:avLst>
          </a:prstGeom>
          <a:solidFill>
            <a:srgbClr val="F4F7FC"/>
          </a:solidFill>
          <a:ln w="12700">
            <a:solidFill>
              <a:srgbClr val="E2E9F5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7452360" y="278892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Inversor selectivo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7452360" y="3063240"/>
            <a:ext cx="3931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D4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Sube el umbral: menos juegos elegidos, pero más aciertos entre ellos.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7223760" y="3840480"/>
            <a:ext cx="4389120" cy="1051560"/>
          </a:xfrm>
          <a:prstGeom prst="roundRect">
            <a:avLst>
              <a:gd name="adj" fmla="val 8696"/>
            </a:avLst>
          </a:prstGeom>
          <a:solidFill>
            <a:srgbClr val="F4F7FC"/>
          </a:solidFill>
          <a:ln w="12700">
            <a:solidFill>
              <a:srgbClr val="E2E9F5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452360" y="397764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Cribado inicial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7452360" y="4251960"/>
            <a:ext cx="3931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D4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Baja el umbral: no se escapa ningún candidato prometedor.</a:t>
            </a:r>
            <a:endParaRPr lang="en-US" sz="1250" dirty="0"/>
          </a:p>
        </p:txBody>
      </p:sp>
      <p:sp>
        <p:nvSpPr>
          <p:cNvPr id="12" name="Text 9"/>
          <p:cNvSpPr/>
          <p:nvPr/>
        </p:nvSpPr>
        <p:spPr>
          <a:xfrm>
            <a:off x="548640" y="516636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es el puente entre la métrica y la decisión real de un estudio.</a:t>
            </a:r>
            <a:endParaRPr lang="en-US" sz="13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8580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66C0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CONCLUSIONES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1005840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Qué he aprendido y dónde está el límite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5394960" cy="1828800"/>
          </a:xfrm>
          <a:prstGeom prst="roundRect">
            <a:avLst>
              <a:gd name="adj" fmla="val 5000"/>
            </a:avLst>
          </a:prstGeom>
          <a:solidFill>
            <a:srgbClr val="2A356F"/>
          </a:solidFill>
          <a:ln/>
        </p:spPr>
      </p:sp>
      <p:sp>
        <p:nvSpPr>
          <p:cNvPr id="5" name="Text 3"/>
          <p:cNvSpPr/>
          <p:nvPr/>
        </p:nvSpPr>
        <p:spPr>
          <a:xfrm>
            <a:off x="914400" y="2148840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6C0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que funciona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914400" y="2560320"/>
            <a:ext cx="48463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puede anticipar la acogida sin usar reseñas</a:t>
            </a:r>
            <a:endParaRPr lang="en-US" sz="13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ROC-AUC 0.776 frente a 0.50 del baseline</a:t>
            </a:r>
            <a:endParaRPr lang="en-US" sz="13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 reproducible y sin fuga de datos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309360" y="1965960"/>
            <a:ext cx="5212080" cy="1828800"/>
          </a:xfrm>
          <a:prstGeom prst="roundRect">
            <a:avLst>
              <a:gd name="adj" fmla="val 5000"/>
            </a:avLst>
          </a:prstGeom>
          <a:solidFill>
            <a:srgbClr val="2A356F"/>
          </a:solidFill>
          <a:ln/>
        </p:spPr>
      </p:sp>
      <p:sp>
        <p:nvSpPr>
          <p:cNvPr id="8" name="Text 6"/>
          <p:cNvSpPr/>
          <p:nvPr/>
        </p:nvSpPr>
        <p:spPr>
          <a:xfrm>
            <a:off x="6583680" y="2148840"/>
            <a:ext cx="4663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6C0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Limitaciones (honestas)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6583680" y="2560320"/>
            <a:ext cx="46634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techo lo pone la señal disponible</a:t>
            </a:r>
            <a:endParaRPr lang="en-US" sz="13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Calidad real, marketing y timing no están en los datos</a:t>
            </a:r>
            <a:endParaRPr lang="en-US" sz="13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Malla de búsqueda reducida por tiempo de cómputo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640080" y="4160520"/>
            <a:ext cx="10881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Siguientes pasos:  features desde los Tags  ·  calibración de probabilidades  ·  ajuste del umbral según el coste de negocio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640080" y="5029200"/>
            <a:ext cx="10881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66C0F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«Un modelo honesto que acierta el 77 % es más útil que uno perfecto que hace trampa.»</a:t>
            </a:r>
            <a:endParaRPr lang="en-US" sz="17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219456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Gracias</a:t>
            </a:r>
            <a:endParaRPr lang="en-US" sz="4800" dirty="0"/>
          </a:p>
        </p:txBody>
      </p:sp>
      <p:sp>
        <p:nvSpPr>
          <p:cNvPr id="3" name="Text 1"/>
          <p:cNvSpPr/>
          <p:nvPr/>
        </p:nvSpPr>
        <p:spPr>
          <a:xfrm>
            <a:off x="822960" y="329184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Código, notebooks y modelo: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822960" y="370332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66C0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github.com/IsaacFrr/ML_steam_reception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822960" y="493776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Isaac Frías  ·  The Bridge — Data Science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2026-07-19T17:14:19Z</dcterms:created>
  <dcterms:modified xsi:type="dcterms:W3CDTF">2026-07-19T17:14:19Z</dcterms:modified>
</cp:coreProperties>
</file>